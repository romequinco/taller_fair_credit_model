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77724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Máster MIAX · IA aplicada a los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35661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8A24A"/>
                </a:solidFill>
                <a:latin typeface="Calibri"/>
              </a:rPr>
              <a:t>Bloque 4 · Tarea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DOCUMENTO DE ENTREGA · JUNIO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0E2A47"/>
                </a:solidFill>
                <a:latin typeface="Georgia"/>
              </a:rPr>
              <a:t>Redes neuronales confiables para scoring de crédito: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0E2A47"/>
                </a:solidFill>
                <a:latin typeface="Georgia"/>
              </a:rPr>
              <a:t>equidad de género e incertidumbre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200400"/>
            <a:ext cx="1828800" cy="50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B6B7B"/>
                </a:solidFill>
                <a:latin typeface="Georgia"/>
              </a:rPr>
              <a:t>Diseño, entrenamiento y auditoría sobre el dataset Home Credit Default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0E2A47"/>
                </a:solidFill>
                <a:latin typeface="Calibri"/>
              </a:rPr>
              <a:t>Dataset:  </a:t>
            </a:r>
            <a:r>
              <a:rPr sz="1200" b="0">
                <a:solidFill>
                  <a:srgbClr val="1C2733"/>
                </a:solidFill>
                <a:latin typeface="Calibri"/>
              </a:rPr>
              <a:t>Home Credit Default Risk — 307.511 × 122 variables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0E2A47"/>
                </a:solidFill>
                <a:latin typeface="Calibri"/>
              </a:rPr>
              <a:t>Componentes:  </a:t>
            </a:r>
            <a:r>
              <a:rPr sz="1200" b="0">
                <a:solidFill>
                  <a:srgbClr val="1C2733"/>
                </a:solidFill>
                <a:latin typeface="Calibri"/>
              </a:rPr>
              <a:t>capa custom (DTI) · FAIR loss (corr²) · Keras Tuner · MC-Dropout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0E2A47"/>
                </a:solidFill>
                <a:latin typeface="Calibri"/>
              </a:rPr>
              <a:t>Variable sensible:  </a:t>
            </a:r>
            <a:r>
              <a:rPr sz="1200" b="0">
                <a:solidFill>
                  <a:srgbClr val="1C2733"/>
                </a:solidFill>
                <a:latin typeface="Calibri"/>
              </a:rPr>
              <a:t>CODE_GENDER, no usada como entrada del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68112"/>
            <a:ext cx="108813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5B6B7B"/>
                </a:solidFill>
                <a:latin typeface="Calibri"/>
              </a:rPr>
              <a:t>AUTORES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24144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E2A47"/>
                </a:solidFill>
                <a:latin typeface="Georgia"/>
              </a:rPr>
              <a:t>Gonzalo de Ramón · Alonso Díaz · Oscar Romero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99632"/>
            <a:ext cx="110642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0EE"/>
                </a:solidFill>
                <a:latin typeface="Calibri"/>
              </a:rPr>
              <a:t>Taller B4-T1 — Diseño de Redes Confiables (Justicia e Incertidumbre)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▸ </a:t>
            </a:r>
            <a:r>
              <a:rPr sz="1600" b="0">
                <a:solidFill>
                  <a:srgbClr val="1C2733"/>
                </a:solidFill>
                <a:latin typeface="Calibri"/>
              </a:rPr>
              <a:t>Scoring de perfiles con poco historial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▸ </a:t>
            </a:r>
            <a:r>
              <a:rPr sz="1600" b="0">
                <a:solidFill>
                  <a:srgbClr val="1C2733"/>
                </a:solidFill>
                <a:latin typeface="Calibri"/>
              </a:rPr>
              <a:t>Desbalance 8,07 % (11,4:1) → métrica </a:t>
            </a:r>
            <a:r>
              <a:rPr sz="1600" b="1">
                <a:solidFill>
                  <a:srgbClr val="1C2733"/>
                </a:solidFill>
                <a:latin typeface="Calibri"/>
              </a:rPr>
              <a:t>AUC-ROC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▸ </a:t>
            </a:r>
            <a:r>
              <a:rPr sz="1600" b="0">
                <a:solidFill>
                  <a:srgbClr val="1C2733"/>
                </a:solidFill>
                <a:latin typeface="Calibri"/>
              </a:rPr>
              <a:t>Sesgo presente aunque el género no es input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▸ </a:t>
            </a:r>
            <a:r>
              <a:rPr sz="1600" b="0">
                <a:solidFill>
                  <a:srgbClr val="1C2733"/>
                </a:solidFill>
                <a:latin typeface="Calibri"/>
              </a:rPr>
              <a:t>Proxy: </a:t>
            </a:r>
            <a:r>
              <a:rPr sz="1600" b="1">
                <a:solidFill>
                  <a:srgbClr val="1C2733"/>
                </a:solidFill>
                <a:latin typeface="Calibri"/>
              </a:rPr>
              <a:t>EXT_SOURCE_1</a:t>
            </a:r>
            <a:r>
              <a:rPr sz="1600" b="0">
                <a:solidFill>
                  <a:srgbClr val="1C2733"/>
                </a:solidFill>
                <a:latin typeface="Calibri"/>
              </a:rPr>
              <a:t> (corr. −0,31 con género)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▸ </a:t>
            </a:r>
            <a:r>
              <a:rPr sz="1600" b="0">
                <a:solidFill>
                  <a:srgbClr val="1C2733"/>
                </a:solidFill>
                <a:latin typeface="Calibri"/>
              </a:rPr>
              <a:t>Falta de fuentes externas predice impago → modelar incertidumbre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4846320" cy="123444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PRECISIÓN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1234440"/>
          </a:xfrm>
          <a:prstGeom prst="round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EQUIDAD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206240"/>
            <a:ext cx="4846320" cy="1234440"/>
          </a:xfrm>
          <a:prstGeom prst="round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INCERTIDUMBRE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715000"/>
            <a:ext cx="48463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Los tres a la vez, en un mismo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Capa custom: restricción matemática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CAPA CUSTOM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Capa Keras a medida </a:t>
            </a:r>
            <a:r>
              <a:rPr sz="1550" b="1">
                <a:solidFill>
                  <a:srgbClr val="1C2733"/>
                </a:solidFill>
                <a:latin typeface="Calibri"/>
              </a:rPr>
              <a:t>DebtRatioSaturatingLayer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Ratio: </a:t>
            </a:r>
            <a:r>
              <a:rPr sz="1550" b="1">
                <a:solidFill>
                  <a:srgbClr val="1C2733"/>
                </a:solidFill>
                <a:latin typeface="Calibri"/>
              </a:rPr>
              <a:t>DTI = AMT_ANNUITY/(|AMT_INCOME|+ε)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Saturación signed-power </a:t>
            </a:r>
            <a:r>
              <a:rPr sz="1550" b="1">
                <a:solidFill>
                  <a:srgbClr val="1C2733"/>
                </a:solidFill>
                <a:latin typeface="Calibri"/>
              </a:rPr>
              <a:t>sign(x)·|x|ᵖ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p entrenable ∈ [0,1;3], init 1 (identidad)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Concatena → 14 features (primera capa)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Aprende </a:t>
            </a:r>
            <a:r>
              <a:rPr sz="1550" b="1">
                <a:solidFill>
                  <a:srgbClr val="1C2733"/>
                </a:solidFill>
                <a:latin typeface="Calibri"/>
              </a:rPr>
              <a:t>p ≈ 0,87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5669280" cy="1325880"/>
          </a:xfrm>
          <a:prstGeom prst="roundRect">
            <a:avLst/>
          </a:prstGeom>
          <a:solidFill>
            <a:srgbClr val="FB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1C2733"/>
                </a:solidFill>
                <a:latin typeface="Calibri"/>
              </a:rPr>
              <a:t>No mejora AUC ni gap: opera sobre features ya transformadas. Aporte metodológico.</a:t>
            </a:r>
          </a:p>
        </p:txBody>
      </p:sp>
      <p:pic>
        <p:nvPicPr>
          <p:cNvPr id="9" name="Picture 8" descr="report__arquitectura_cus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280" y="1188720"/>
            <a:ext cx="4694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FAIR loss: penalizar la dependencia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FAIR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777240"/>
          </a:xfrm>
          <a:prstGeom prst="roundRect">
            <a:avLst/>
          </a:prstGeom>
          <a:solidFill>
            <a:srgbClr val="16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L = BCE(ŷ, TARGET) + λ · D(ŷ, CODE_GENDER)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D sobre la probabilidad; género solo en train, </a:t>
            </a:r>
            <a:r>
              <a:rPr sz="1550" b="1">
                <a:solidFill>
                  <a:srgbClr val="1C2733"/>
                </a:solidFill>
                <a:latin typeface="Calibri"/>
              </a:rPr>
              <a:t>nunca input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Tres medidas: corr² (lineal, O(n)), HSIC (kernel), MMD² (dos muestras)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1">
                <a:solidFill>
                  <a:srgbClr val="1C2733"/>
                </a:solidFill>
                <a:latin typeface="Calibri"/>
              </a:rPr>
              <a:t>corr²</a:t>
            </a:r>
            <a:r>
              <a:rPr sz="1550" b="0">
                <a:solidFill>
                  <a:srgbClr val="1C2733"/>
                </a:solidFill>
                <a:latin typeface="Calibri"/>
              </a:rPr>
              <a:t>: dependencia = desplazamiento de medias (binario) y O(n)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50" b="1">
                <a:solidFill>
                  <a:srgbClr val="0F8B8D"/>
                </a:solidFill>
                <a:latin typeface="Calibri"/>
              </a:rPr>
              <a:t>▸ </a:t>
            </a:r>
            <a:r>
              <a:rPr sz="1550" b="0">
                <a:solidFill>
                  <a:srgbClr val="1C2733"/>
                </a:solidFill>
                <a:latin typeface="Calibri"/>
              </a:rPr>
              <a:t>Kernels exigen matrices n×n, inviables en validación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64240" cy="914400"/>
          </a:xfrm>
          <a:prstGeom prst="roundRect">
            <a:avLst/>
          </a:prstGeom>
          <a:solidFill>
            <a:srgbClr val="EA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500">
                <a:solidFill>
                  <a:srgbClr val="1C2733"/>
                </a:solidFill>
                <a:latin typeface="Calibri"/>
              </a:rPr>
              <a:t>No se borra el género (hay proxies): se penaliza su dependencia con la predicción.</a:t>
            </a:r>
          </a:p>
        </p:txBody>
      </p:sp>
      <p:pic>
        <p:nvPicPr>
          <p:cNvPr id="10" name="Picture 9" descr="05_fair__score_medio_por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625" y="5532120"/>
            <a:ext cx="228227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Frontera de Pareto: coste de la 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KERAS TUNER</a:t>
            </a:r>
          </a:p>
        </p:txBody>
      </p:sp>
      <p:pic>
        <p:nvPicPr>
          <p:cNvPr id="7" name="Picture 6" descr="06_tuner__pareto_3me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4543"/>
            <a:ext cx="6766560" cy="44603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371600"/>
            <a:ext cx="4297680" cy="1051560"/>
          </a:xfrm>
          <a:prstGeom prst="round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−72 %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GROUP GAP  5,615 → 1,568 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560320"/>
            <a:ext cx="4297680" cy="105156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−0,59 pp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AUC vs base comparable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749040"/>
            <a:ext cx="4297680" cy="1051560"/>
          </a:xfrm>
          <a:prstGeom prst="roundRect">
            <a:avLst/>
          </a:prstGeom>
          <a:solidFill>
            <a:srgbClr val="16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−0,92 pp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AUC vs base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983480"/>
            <a:ext cx="4297680" cy="1371600"/>
          </a:xfrm>
          <a:prstGeom prst="round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−72 % de sesgo por menos de 1 pp de 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Incertidumbre: MC-Dropout (T=100)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MC-DROPOUT</a:t>
            </a:r>
          </a:p>
        </p:txBody>
      </p:sp>
      <p:pic>
        <p:nvPicPr>
          <p:cNvPr id="7" name="Picture 6" descr="07_incert__varianza_vs_n_ext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9598"/>
            <a:ext cx="5852160" cy="36702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280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0F8B8D"/>
                </a:solidFill>
                <a:latin typeface="Calibri"/>
              </a:rPr>
              <a:t>▸ </a:t>
            </a:r>
            <a:r>
              <a:rPr sz="1450" b="0">
                <a:solidFill>
                  <a:srgbClr val="1C2733"/>
                </a:solidFill>
                <a:latin typeface="Calibri"/>
              </a:rPr>
              <a:t>Da clase + varianza; AUC 0,7346 (sin coste)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0F8B8D"/>
                </a:solidFill>
                <a:latin typeface="Calibri"/>
              </a:rPr>
              <a:t>▸ </a:t>
            </a:r>
            <a:r>
              <a:rPr sz="1450" b="0">
                <a:solidFill>
                  <a:srgbClr val="1C2733"/>
                </a:solidFill>
                <a:latin typeface="Calibri"/>
              </a:rPr>
              <a:t>Relación duda–EXT_SOURCE: global débil (ρ=+0,02)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0F8B8D"/>
                </a:solidFill>
                <a:latin typeface="Calibri"/>
              </a:rPr>
              <a:t>▸ </a:t>
            </a:r>
            <a:r>
              <a:rPr sz="1450" b="1">
                <a:solidFill>
                  <a:srgbClr val="1C2733"/>
                </a:solidFill>
                <a:latin typeface="Calibri"/>
              </a:rPr>
              <a:t>+47 % de varianza</a:t>
            </a:r>
            <a:r>
              <a:rPr sz="1450" b="0">
                <a:solidFill>
                  <a:srgbClr val="1C2733"/>
                </a:solidFill>
                <a:latin typeface="Calibri"/>
              </a:rPr>
              <a:t> sin fuentes externas (n=27)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0F8B8D"/>
                </a:solidFill>
                <a:latin typeface="Calibri"/>
              </a:rPr>
              <a:t>▸ </a:t>
            </a:r>
            <a:r>
              <a:rPr sz="1450" b="0">
                <a:solidFill>
                  <a:srgbClr val="1C2733"/>
                </a:solidFill>
                <a:latin typeface="Calibri"/>
              </a:rPr>
              <a:t>Buen vs mal pagador: varianza similar → duda = calidad de entrada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0F8B8D"/>
                </a:solidFill>
                <a:latin typeface="Calibri"/>
              </a:rPr>
              <a:t>▸ </a:t>
            </a:r>
            <a:r>
              <a:rPr sz="1450" b="0">
                <a:solidFill>
                  <a:srgbClr val="1C2733"/>
                </a:solidFill>
                <a:latin typeface="Calibri"/>
              </a:rPr>
              <a:t>Top 10 % incierto = más error → revisión humana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Resultados en test: base vs mejor 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EVALUACIÓN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914400"/>
                <a:gridCol w="1737360"/>
                <a:gridCol w="1920240"/>
                <a:gridCol w="1371600"/>
                <a:gridCol w="1371600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λ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 test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group gap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ΔTPR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ΔFPR</a:t>
                      </a:r>
                    </a:p>
                  </a:txBody>
                  <a:tcPr marL="76200" marT="50800" marB="50800" anchor="ctr">
                    <a:solidFill>
                      <a:srgbClr val="0E2A4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base 03 (sin FAIR)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0,7437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5,358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base tuner (λ=0)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0,7404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5,615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8,282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C2733"/>
                          </a:solidFill>
                          <a:latin typeface="Calibri"/>
                        </a:rPr>
                        <a:t>11,076</a:t>
                      </a:r>
                    </a:p>
                  </a:txBody>
                  <a:tcPr marL="76200" marT="50800" marB="50800" anchor="ctr">
                    <a:solidFill>
                      <a:srgbClr val="F4F7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★ mejor FAIR (corr²)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0,7345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1,568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1,817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2A47"/>
                          </a:solidFill>
                          <a:latin typeface="Calibri"/>
                        </a:rPr>
                        <a:t>3,349</a:t>
                      </a:r>
                    </a:p>
                  </a:txBody>
                  <a:tcPr marL="76200" marT="50800" marB="50800" anchor="ctr"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9427" y="4572000"/>
            <a:ext cx="2651760" cy="1143000"/>
          </a:xfrm>
          <a:prstGeom prst="round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−72 %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GROUP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9787" y="4572000"/>
            <a:ext cx="2651760" cy="114300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−0,59 pp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AUC (base comp.)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4572000"/>
            <a:ext cx="2651760" cy="1143000"/>
          </a:xfrm>
          <a:prstGeom prst="roundRect">
            <a:avLst/>
          </a:prstGeom>
          <a:solidFill>
            <a:srgbClr val="16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8,28→1,82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ΔTPR (pp)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0507" y="4572000"/>
            <a:ext cx="2651760" cy="1143000"/>
          </a:xfrm>
          <a:prstGeom prst="roundRect">
            <a:avLst/>
          </a:prstGeom>
          <a:solidFill>
            <a:srgbClr val="163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11,08→3,35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ΔFPR (pp)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−72 % de sesgo y mejor equalized-odds por menos de 1 pp de 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8A24A"/>
                </a:solidFill>
                <a:latin typeface="Georg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0"/>
            <a:ext cx="86868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Conclusiones y defensa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0D6"/>
                </a:solidFill>
                <a:latin typeface="Calibri"/>
              </a:rPr>
              <a:t>CIERRE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3500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789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Georgia"/>
              </a:rPr>
              <a:t>1 · Restricción y métrica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1C2733"/>
                </a:solidFill>
                <a:latin typeface="Calibri"/>
              </a:rPr>
              <a:t>Capa DTI (p entrenable) + penalización corr² sobre la probabilidad.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24328"/>
            <a:ext cx="63500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789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Georgia"/>
              </a:rPr>
              <a:t>2 · Coste de la fairness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1C2733"/>
                </a:solidFill>
                <a:latin typeface="Calibri"/>
              </a:rPr>
              <a:t>−72 % de group gap por −0,59 pp de AUC (−0,92 vs base 03).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22776"/>
            <a:ext cx="63500" cy="1143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22776"/>
            <a:ext cx="107899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Georgia"/>
              </a:rPr>
              <a:t>3 · Incertidumbre y EXT_SOURCE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1C2733"/>
                </a:solidFill>
                <a:latin typeface="Calibri"/>
              </a:rPr>
              <a:t>Global débil, pero +47 % de varianza sin fuentes externas (n=27).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64240" cy="9601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8A24A"/>
                </a:solidFill>
                <a:latin typeface="Georgia"/>
              </a:rPr>
              <a:t>Scoring + fairness + incertidumbre en un solo modelo.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